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62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697480" y="0"/>
            <a:ext cx="256032" cy="6858000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4572000" y="-228600"/>
            <a:ext cx="7955279" cy="7315200"/>
          </a:xfrm>
          <a:prstGeom prst="parallelogram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224528" y="0"/>
            <a:ext cx="210312" cy="6858000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475488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14334E"/>
                </a:solidFill>
                <a:latin typeface="Aptos"/>
              </a:rPr>
              <a:t>INTELIGÊNCIA ARTIFICIAL</a:t>
            </a:r>
          </a:p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14334E"/>
                </a:solidFill>
                <a:latin typeface="Aptos"/>
              </a:rPr>
              <a:t>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87168"/>
            <a:ext cx="402336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4334E"/>
                </a:solidFill>
                <a:latin typeface="Aptos"/>
              </a:rPr>
              <a:t>Emprego, desigualdade e saúde mental dos trabalhadores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29260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7024"/>
                </a:solidFill>
                <a:latin typeface="Aptos"/>
              </a:rPr>
              <a:t>ENCIBRAC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133087"/>
            <a:ext cx="384048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4334E"/>
                </a:solidFill>
                <a:latin typeface="Aptos"/>
              </a:rPr>
              <a:t>Análise e Desenvolvimento de Sistemas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4334E"/>
                </a:solidFill>
                <a:latin typeface="Aptos"/>
              </a:rPr>
              <a:t>Universidade Braz Cubas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188720"/>
            <a:ext cx="4206240" cy="21945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Aptos"/>
              </a:rPr>
              <a:t>Alan Rosa da Silveira Neto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Aptos"/>
              </a:rPr>
              <a:t>Cauã Silva Godoy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Aptos"/>
              </a:rPr>
              <a:t>Gabriel Campos Monzani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Aptos"/>
              </a:rPr>
              <a:t>Gabriel Gomes Ferreira</a:t>
            </a:r>
          </a:p>
          <a:p>
            <a:pPr algn="l">
              <a:spcAft>
                <a:spcPts val="800"/>
              </a:spcAft>
            </a:pPr>
            <a:r>
              <a:rPr sz="1800" b="0" i="0">
                <a:solidFill>
                  <a:srgbClr val="FFFFFF"/>
                </a:solidFill>
                <a:latin typeface="Aptos"/>
              </a:rPr>
              <a:t>Matheus Bispo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069080"/>
            <a:ext cx="429768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1">
                <a:solidFill>
                  <a:srgbClr val="FFFFFF"/>
                </a:solidFill>
                <a:latin typeface="Aptos"/>
              </a:rPr>
              <a:t>Palavras-chave: inteligência artificial; trabalho; desigualdade.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5989320"/>
            <a:ext cx="10058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INTRODUÇÃO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482634"/>
            <a:ext cx="9006840" cy="4526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Problemática</a:t>
            </a:r>
            <a:r>
              <a:rPr sz="1900" dirty="0">
                <a:solidFill>
                  <a:srgbClr val="14334E"/>
                </a:solidFill>
                <a:latin typeface="Aptos"/>
              </a:rPr>
              <a:t>: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como</a:t>
            </a:r>
            <a:r>
              <a:rPr sz="1900" dirty="0">
                <a:solidFill>
                  <a:srgbClr val="14334E"/>
                </a:solidFill>
                <a:latin typeface="Aptos"/>
              </a:rPr>
              <a:t> 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automação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por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inteligência</a:t>
            </a:r>
            <a:r>
              <a:rPr sz="1900" dirty="0">
                <a:solidFill>
                  <a:srgbClr val="14334E"/>
                </a:solidFill>
                <a:latin typeface="Aptos"/>
              </a:rPr>
              <a:t> artificial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impacta</a:t>
            </a:r>
            <a:r>
              <a:rPr sz="1900" dirty="0">
                <a:solidFill>
                  <a:srgbClr val="14334E"/>
                </a:solidFill>
                <a:latin typeface="Aptos"/>
              </a:rPr>
              <a:t> o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emprego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desigualdade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nos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próximos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anos</a:t>
            </a:r>
            <a:r>
              <a:rPr sz="1900" dirty="0">
                <a:solidFill>
                  <a:srgbClr val="14334E"/>
                </a:solidFill>
                <a:latin typeface="Aptos"/>
              </a:rPr>
              <a:t>?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A IA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generativa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pode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alterar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tarefas</a:t>
            </a:r>
            <a:r>
              <a:rPr sz="1900" dirty="0">
                <a:solidFill>
                  <a:srgbClr val="14334E"/>
                </a:solidFill>
                <a:latin typeface="Aptos"/>
              </a:rPr>
              <a:t>,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ocupações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oportunidades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renda</a:t>
            </a:r>
            <a:r>
              <a:rPr sz="19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efeitos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são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iguais</a:t>
            </a:r>
            <a:r>
              <a:rPr sz="1900" dirty="0">
                <a:solidFill>
                  <a:srgbClr val="14334E"/>
                </a:solidFill>
                <a:latin typeface="Aptos"/>
              </a:rPr>
              <a:t> para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todos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trabalhadores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setores</a:t>
            </a:r>
            <a:r>
              <a:rPr sz="19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Justificativa</a:t>
            </a:r>
            <a:r>
              <a:rPr sz="1900" dirty="0">
                <a:solidFill>
                  <a:srgbClr val="14334E"/>
                </a:solidFill>
                <a:latin typeface="Aptos"/>
              </a:rPr>
              <a:t>: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compreender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riscos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oportunidades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ajuda</a:t>
            </a:r>
            <a:r>
              <a:rPr sz="1900" dirty="0">
                <a:solidFill>
                  <a:srgbClr val="14334E"/>
                </a:solidFill>
                <a:latin typeface="Aptos"/>
              </a:rPr>
              <a:t> 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orientar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decisões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mais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responsáveis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nas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empresas</a:t>
            </a:r>
            <a:r>
              <a:rPr sz="1900" dirty="0">
                <a:solidFill>
                  <a:srgbClr val="14334E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INTRODUÇÃO — OBJETIVOS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479345"/>
            <a:ext cx="9006840" cy="419191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pt-BR" dirty="0" smtClean="0">
                <a:latin typeface="Aptos"/>
              </a:rPr>
              <a:t>✓</a:t>
            </a:r>
            <a:r>
              <a:rPr lang="pt-BR" b="1" dirty="0" smtClean="0">
                <a:latin typeface="Aptos"/>
              </a:rPr>
              <a:t>Objetivo geral:</a:t>
            </a:r>
            <a:r>
              <a:rPr lang="pt-BR" dirty="0" smtClean="0">
                <a:latin typeface="Aptos"/>
              </a:rPr>
              <a:t> analisar como a automação por IA afeta o cotidiano profissional dos trabalhadores e as dinâmicas de desigualdade nas organizações.</a:t>
            </a:r>
          </a:p>
          <a:p>
            <a:endParaRPr lang="pt-BR" dirty="0" smtClean="0">
              <a:latin typeface="Aptos"/>
            </a:endParaRPr>
          </a:p>
          <a:p>
            <a:r>
              <a:rPr lang="pt-BR" dirty="0" smtClean="0">
                <a:latin typeface="Aptos"/>
              </a:rPr>
              <a:t>✓Mapear áreas profissionais e funções com maior grau de exposição à automação e substituição de tarefas.</a:t>
            </a:r>
          </a:p>
          <a:p>
            <a:endParaRPr lang="pt-BR" dirty="0" smtClean="0">
              <a:latin typeface="Aptos"/>
            </a:endParaRPr>
          </a:p>
          <a:p>
            <a:r>
              <a:rPr lang="pt-BR" dirty="0" smtClean="0">
                <a:latin typeface="Aptos"/>
              </a:rPr>
              <a:t>✓Identificar possíveis distorções e efeitos sobre a distribuição e desigualdade de renda.</a:t>
            </a:r>
          </a:p>
          <a:p>
            <a:endParaRPr lang="pt-BR" dirty="0" smtClean="0">
              <a:latin typeface="Aptos"/>
            </a:endParaRPr>
          </a:p>
          <a:p>
            <a:r>
              <a:rPr lang="pt-BR" dirty="0" smtClean="0">
                <a:latin typeface="Aptos"/>
              </a:rPr>
              <a:t>✓Examinar os impactos psicológicos na rotina, no bem-estar e na saúde mental do trabalhador.</a:t>
            </a:r>
          </a:p>
          <a:p>
            <a:endParaRPr lang="pt-BR" dirty="0" smtClean="0">
              <a:latin typeface="Aptos"/>
            </a:endParaRPr>
          </a:p>
          <a:p>
            <a:r>
              <a:rPr lang="pt-BR" dirty="0" smtClean="0">
                <a:latin typeface="Aptos"/>
              </a:rPr>
              <a:t>✓</a:t>
            </a:r>
            <a:r>
              <a:rPr lang="pt-BR" dirty="0">
                <a:latin typeface="Aptos"/>
              </a:rPr>
              <a:t>Sintetizar boas práticas organizacionais para uma adoção ética, justa e responsável da IA.</a:t>
            </a:r>
            <a:endParaRPr lang="pt-BR" dirty="0" smtClean="0">
              <a:latin typeface="Aptos"/>
            </a:endParaRPr>
          </a:p>
          <a:p>
            <a:r>
              <a:rPr lang="pt-BR" dirty="0"/>
              <a:t/>
            </a:r>
            <a:br>
              <a:rPr lang="pt-BR" dirty="0"/>
            </a:br>
            <a:endParaRPr sz="1800" dirty="0">
              <a:solidFill>
                <a:srgbClr val="1433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METODOLOGIA / MÉTODO DA PESQUISA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45920"/>
            <a:ext cx="8686800" cy="34255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pt-BR" sz="2000" dirty="0">
                <a:latin typeface="Aptos"/>
              </a:rPr>
              <a:t>•Abordagem qualitativa de natureza teórica e caráter exploratório</a:t>
            </a:r>
            <a:r>
              <a:rPr lang="pt-BR" sz="2000" dirty="0" smtClean="0">
                <a:latin typeface="Aptos"/>
              </a:rPr>
              <a:t>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•Revisão narrativa da literatura focada na fundamentação e síntese teórica</a:t>
            </a:r>
            <a:r>
              <a:rPr lang="pt-BR" sz="2000" dirty="0" smtClean="0">
                <a:latin typeface="Aptos"/>
              </a:rPr>
              <a:t>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•Análise sistemática de três estudos fundamentais publicados em 2024 sobre emprego, desigualdade salarial e bem-estar ocupacional</a:t>
            </a:r>
            <a:r>
              <a:rPr lang="pt-BR" sz="2000" dirty="0" smtClean="0">
                <a:latin typeface="Aptos"/>
              </a:rPr>
              <a:t>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 smtClean="0">
                <a:latin typeface="Aptos"/>
              </a:rPr>
              <a:t>•</a:t>
            </a:r>
            <a:r>
              <a:rPr lang="pt-BR" sz="2000" b="1" dirty="0">
                <a:latin typeface="Aptos"/>
              </a:rPr>
              <a:t>Limitação do método:</a:t>
            </a:r>
            <a:r>
              <a:rPr lang="pt-BR" sz="2000" dirty="0">
                <a:latin typeface="Aptos"/>
              </a:rPr>
              <a:t> amostra restrita de estudos empíricos e foco em contextos geográficos ou plataformas específicas.</a:t>
            </a:r>
          </a:p>
          <a:p>
            <a:r>
              <a:rPr lang="pt-BR" sz="2000" dirty="0"/>
              <a:t/>
            </a:r>
            <a:br>
              <a:rPr lang="pt-BR" sz="2000" dirty="0"/>
            </a:br>
            <a:endParaRPr sz="1900" b="0" i="0" dirty="0">
              <a:solidFill>
                <a:srgbClr val="1433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FUNDAMENTAÇÃO TEÓRICA — EMPREGO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08760"/>
            <a:ext cx="9006840" cy="4526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Efeito</a:t>
            </a:r>
            <a:r>
              <a:rPr sz="19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curto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prazo</a:t>
            </a:r>
            <a:r>
              <a:rPr sz="1900" dirty="0">
                <a:solidFill>
                  <a:srgbClr val="14334E"/>
                </a:solidFill>
                <a:latin typeface="Aptos"/>
              </a:rPr>
              <a:t> da IA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generativa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em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trabalhos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freelancer.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Redução</a:t>
            </a:r>
            <a:r>
              <a:rPr sz="19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emprego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renda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observada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em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ocupações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mais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expostas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na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plataforma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Upwork</a:t>
            </a:r>
            <a:r>
              <a:rPr sz="19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Pesquisadores</a:t>
            </a:r>
            <a:r>
              <a:rPr sz="1900" dirty="0">
                <a:solidFill>
                  <a:srgbClr val="14334E"/>
                </a:solidFill>
                <a:latin typeface="Aptos"/>
              </a:rPr>
              <a:t>: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Hui</a:t>
            </a:r>
            <a:r>
              <a:rPr sz="1900" dirty="0">
                <a:solidFill>
                  <a:srgbClr val="14334E"/>
                </a:solidFill>
                <a:latin typeface="Aptos"/>
              </a:rPr>
              <a:t>,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Reshef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Zhou (2024).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Limitação</a:t>
            </a:r>
            <a:r>
              <a:rPr sz="1900" dirty="0">
                <a:solidFill>
                  <a:srgbClr val="14334E"/>
                </a:solidFill>
                <a:latin typeface="Aptos"/>
              </a:rPr>
              <a:t>: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uma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única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plataforma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horizonte</a:t>
            </a:r>
            <a:r>
              <a:rPr sz="19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curto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prazo</a:t>
            </a:r>
            <a:r>
              <a:rPr sz="1900" dirty="0">
                <a:solidFill>
                  <a:srgbClr val="14334E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FUNDAMENTAÇÃO TEÓRICA — DESIGUALDADE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08760"/>
            <a:ext cx="9006840" cy="4526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8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Exposição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às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habilidades</a:t>
            </a:r>
            <a:r>
              <a:rPr sz="1800" dirty="0">
                <a:solidFill>
                  <a:srgbClr val="14334E"/>
                </a:solidFill>
                <a:latin typeface="Aptos"/>
              </a:rPr>
              <a:t> da IA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varia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conforme</a:t>
            </a:r>
            <a:r>
              <a:rPr sz="1800" dirty="0">
                <a:solidFill>
                  <a:srgbClr val="14334E"/>
                </a:solidFill>
                <a:latin typeface="Aptos"/>
              </a:rPr>
              <a:t> a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ocupação</a:t>
            </a:r>
            <a:r>
              <a:rPr sz="1800" dirty="0">
                <a:solidFill>
                  <a:srgbClr val="14334E"/>
                </a:solidFill>
                <a:latin typeface="Aptos"/>
              </a:rPr>
              <a:t> e a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faixa</a:t>
            </a:r>
            <a:r>
              <a:rPr sz="18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renda</a:t>
            </a:r>
            <a:r>
              <a:rPr sz="18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800" dirty="0">
                <a:solidFill>
                  <a:srgbClr val="14334E"/>
                </a:solidFill>
                <a:latin typeface="Aptos"/>
              </a:rPr>
              <a:t>✓  O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estudo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modela</a:t>
            </a:r>
            <a:r>
              <a:rPr sz="1800" dirty="0">
                <a:solidFill>
                  <a:srgbClr val="14334E"/>
                </a:solidFill>
                <a:latin typeface="Aptos"/>
              </a:rPr>
              <a:t> 711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ocupações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nos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Estados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Unidos</a:t>
            </a:r>
            <a:r>
              <a:rPr sz="18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8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Até</a:t>
            </a:r>
            <a:r>
              <a:rPr sz="1800" dirty="0">
                <a:solidFill>
                  <a:srgbClr val="14334E"/>
                </a:solidFill>
                <a:latin typeface="Aptos"/>
              </a:rPr>
              <a:t> 45% das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habilidades</a:t>
            </a:r>
            <a:r>
              <a:rPr sz="1800" dirty="0">
                <a:solidFill>
                  <a:srgbClr val="14334E"/>
                </a:solidFill>
                <a:latin typeface="Aptos"/>
              </a:rPr>
              <a:t> no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quartil</a:t>
            </a:r>
            <a:r>
              <a:rPr sz="18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maior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renda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aparecem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expostas</a:t>
            </a:r>
            <a:r>
              <a:rPr sz="1800" dirty="0">
                <a:solidFill>
                  <a:srgbClr val="14334E"/>
                </a:solidFill>
                <a:latin typeface="Aptos"/>
              </a:rPr>
              <a:t>, contra 26% no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quartil</a:t>
            </a:r>
            <a:r>
              <a:rPr sz="18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menor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renda</a:t>
            </a:r>
            <a:r>
              <a:rPr sz="18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8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Pesquisadores</a:t>
            </a:r>
            <a:r>
              <a:rPr sz="1800" dirty="0">
                <a:solidFill>
                  <a:srgbClr val="14334E"/>
                </a:solidFill>
                <a:latin typeface="Aptos"/>
              </a:rPr>
              <a:t>: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Aldasoro</a:t>
            </a:r>
            <a:r>
              <a:rPr sz="1800" dirty="0">
                <a:solidFill>
                  <a:srgbClr val="14334E"/>
                </a:solidFill>
                <a:latin typeface="Aptos"/>
              </a:rPr>
              <a:t> et al. (2024).</a:t>
            </a:r>
          </a:p>
          <a:p>
            <a:pPr>
              <a:spcAft>
                <a:spcPts val="1300"/>
              </a:spcAft>
            </a:pPr>
            <a:r>
              <a:rPr sz="18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Resultado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baseado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em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modelagem</a:t>
            </a:r>
            <a:r>
              <a:rPr sz="1800" dirty="0">
                <a:solidFill>
                  <a:srgbClr val="14334E"/>
                </a:solidFill>
                <a:latin typeface="Aptos"/>
              </a:rPr>
              <a:t>,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em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observação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direta</a:t>
            </a:r>
            <a:r>
              <a:rPr sz="18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todos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os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efeitos</a:t>
            </a:r>
            <a:r>
              <a:rPr sz="1800" dirty="0">
                <a:solidFill>
                  <a:srgbClr val="14334E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FUNDAMENTAÇÃO TEÓRICA — SAÚDE 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08760"/>
            <a:ext cx="9006840" cy="36379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pt-BR" dirty="0">
                <a:latin typeface="Aptos"/>
              </a:rPr>
              <a:t>✓A integração da IA favorece a autonomia, flexibilidade e eficiência operacional nas rotinas diárias.</a:t>
            </a:r>
          </a:p>
          <a:p>
            <a:endParaRPr lang="pt-BR" dirty="0">
              <a:latin typeface="Aptos"/>
            </a:endParaRPr>
          </a:p>
          <a:p>
            <a:r>
              <a:rPr lang="pt-BR" dirty="0" smtClean="0">
                <a:latin typeface="Aptos"/>
              </a:rPr>
              <a:t>✓</a:t>
            </a:r>
            <a:r>
              <a:rPr lang="pt-BR" dirty="0">
                <a:latin typeface="Aptos"/>
              </a:rPr>
              <a:t>Em contrapartida, intensifica o estresse ocupacional, a insegurança no emprego e a ansiedade diante das transformações aceleradas.</a:t>
            </a:r>
          </a:p>
          <a:p>
            <a:endParaRPr lang="pt-BR" dirty="0" smtClean="0">
              <a:latin typeface="Aptos"/>
            </a:endParaRPr>
          </a:p>
          <a:p>
            <a:r>
              <a:rPr lang="pt-BR" dirty="0" smtClean="0">
                <a:latin typeface="Aptos"/>
              </a:rPr>
              <a:t>✓</a:t>
            </a:r>
            <a:r>
              <a:rPr lang="pt-BR" dirty="0">
                <a:latin typeface="Aptos"/>
              </a:rPr>
              <a:t>Revisão </a:t>
            </a:r>
            <a:r>
              <a:rPr lang="pt-BR" dirty="0" err="1">
                <a:latin typeface="Aptos"/>
              </a:rPr>
              <a:t>bibliométrica</a:t>
            </a:r>
            <a:r>
              <a:rPr lang="pt-BR" dirty="0">
                <a:latin typeface="Aptos"/>
              </a:rPr>
              <a:t>: 92 artigos mapeados; 25 estudos selecionados para a análise sistemática.</a:t>
            </a:r>
          </a:p>
          <a:p>
            <a:endParaRPr lang="pt-BR" dirty="0" smtClean="0">
              <a:latin typeface="Aptos"/>
            </a:endParaRPr>
          </a:p>
          <a:p>
            <a:r>
              <a:rPr lang="pt-BR" dirty="0" smtClean="0">
                <a:latin typeface="Aptos"/>
              </a:rPr>
              <a:t>✓</a:t>
            </a:r>
            <a:r>
              <a:rPr lang="pt-BR" b="1" dirty="0">
                <a:latin typeface="Aptos"/>
              </a:rPr>
              <a:t>Evidência empírica:</a:t>
            </a:r>
            <a:r>
              <a:rPr lang="pt-BR" dirty="0">
                <a:latin typeface="Aptos"/>
              </a:rPr>
              <a:t> </a:t>
            </a:r>
            <a:r>
              <a:rPr lang="pt-BR" dirty="0" err="1">
                <a:latin typeface="Aptos"/>
              </a:rPr>
              <a:t>Soulami</a:t>
            </a:r>
            <a:r>
              <a:rPr lang="pt-BR" dirty="0">
                <a:latin typeface="Aptos"/>
              </a:rPr>
              <a:t>, </a:t>
            </a:r>
            <a:r>
              <a:rPr lang="pt-BR" dirty="0" err="1">
                <a:latin typeface="Aptos"/>
              </a:rPr>
              <a:t>Benchekroun</a:t>
            </a:r>
            <a:r>
              <a:rPr lang="pt-BR" dirty="0">
                <a:latin typeface="Aptos"/>
              </a:rPr>
              <a:t> e </a:t>
            </a:r>
            <a:r>
              <a:rPr lang="pt-BR" dirty="0" err="1">
                <a:latin typeface="Aptos"/>
              </a:rPr>
              <a:t>Galiulina</a:t>
            </a:r>
            <a:r>
              <a:rPr lang="pt-BR" dirty="0">
                <a:latin typeface="Aptos"/>
              </a:rPr>
              <a:t> (2024).</a:t>
            </a:r>
          </a:p>
          <a:p>
            <a:endParaRPr lang="pt-BR" dirty="0" smtClean="0">
              <a:latin typeface="Aptos"/>
            </a:endParaRPr>
          </a:p>
          <a:p>
            <a:r>
              <a:rPr lang="pt-BR" dirty="0" smtClean="0">
                <a:latin typeface="Aptos"/>
              </a:rPr>
              <a:t>✓</a:t>
            </a:r>
            <a:r>
              <a:rPr lang="pt-BR" b="1" dirty="0" smtClean="0">
                <a:latin typeface="Aptos"/>
              </a:rPr>
              <a:t>Limitações</a:t>
            </a:r>
            <a:r>
              <a:rPr lang="pt-BR" b="1" dirty="0">
                <a:latin typeface="Aptos"/>
              </a:rPr>
              <a:t>:</a:t>
            </a:r>
            <a:r>
              <a:rPr lang="pt-BR" dirty="0">
                <a:latin typeface="Aptos"/>
              </a:rPr>
              <a:t> pesquisas restritas à língua inglesa e concentração geográfica nos EUA, Ásia e Europa.</a:t>
            </a:r>
            <a:endParaRPr sz="1800" dirty="0">
              <a:solidFill>
                <a:srgbClr val="1433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FUNDAMENTAÇÃO TEÓRICA — SÍNTESE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04406"/>
            <a:ext cx="9006840" cy="399186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lang="pt-BR" sz="2000" b="1" dirty="0" smtClean="0">
                <a:latin typeface="Aptos"/>
              </a:rPr>
              <a:t>Efeito </a:t>
            </a:r>
            <a:r>
              <a:rPr lang="pt-BR" sz="2000" b="1" dirty="0">
                <a:latin typeface="Aptos"/>
              </a:rPr>
              <a:t>assimétrico:</a:t>
            </a:r>
            <a:r>
              <a:rPr lang="pt-BR" sz="2000" dirty="0">
                <a:latin typeface="Aptos"/>
              </a:rPr>
              <a:t> enquanto certas funções qualificadas são complementadas, tarefas rotineiras sofrem substituição direta</a:t>
            </a:r>
            <a:r>
              <a:rPr lang="pt-BR" sz="2000" dirty="0" smtClean="0">
                <a:latin typeface="Aptos"/>
              </a:rPr>
              <a:t>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✓Riscos e oportunidades dependem diretamente do tipo de ocupação, do nível de habilidade e do contexto organizacional</a:t>
            </a:r>
            <a:r>
              <a:rPr lang="pt-BR" sz="2000" dirty="0" smtClean="0">
                <a:latin typeface="Aptos"/>
              </a:rPr>
              <a:t>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✓A literatura analisada ainda não apresenta consenso sobre o saldo definitivo de empregos no longo prazo</a:t>
            </a:r>
            <a:r>
              <a:rPr lang="pt-BR" sz="2000" dirty="0" smtClean="0">
                <a:latin typeface="Aptos"/>
              </a:rPr>
              <a:t>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 smtClean="0">
                <a:latin typeface="Aptos"/>
              </a:rPr>
              <a:t>✓</a:t>
            </a:r>
            <a:r>
              <a:rPr lang="pt-BR" sz="2000" dirty="0">
                <a:latin typeface="Aptos"/>
              </a:rPr>
              <a:t>Identificam-se lacunas expressivas sobre o mercado de trabalho no Brasil, países emergentes e empregos formais.</a:t>
            </a:r>
          </a:p>
          <a:p>
            <a:r>
              <a:rPr lang="pt-BR" sz="2000" dirty="0"/>
              <a:t/>
            </a:r>
            <a:br>
              <a:rPr lang="pt-BR" sz="2000" dirty="0"/>
            </a:br>
            <a:endParaRPr sz="1900" dirty="0">
              <a:solidFill>
                <a:srgbClr val="1433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CONSIDERAÇÕES FINAIS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275064"/>
            <a:ext cx="9006840" cy="494596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pt-BR" sz="2000" dirty="0">
                <a:latin typeface="Aptos"/>
              </a:rPr>
              <a:t>✓A IA eleva a eficiência e flexibilidade, mas acarreta riscos de insegurança, pressão psicológica e sobrecarga</a:t>
            </a:r>
            <a:r>
              <a:rPr lang="pt-BR" sz="2000" dirty="0" smtClean="0">
                <a:latin typeface="Aptos"/>
              </a:rPr>
              <a:t>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✓A análise sobre automação e desigualdade exige a consideração das disparidades entre diferentes classes ocupacionais</a:t>
            </a:r>
            <a:r>
              <a:rPr lang="pt-BR" sz="2000" dirty="0" smtClean="0">
                <a:latin typeface="Aptos"/>
              </a:rPr>
              <a:t>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✓A adoção responsável exige capacitação profissional contínua, governança transparente e rigorosa proteção de dados</a:t>
            </a:r>
            <a:r>
              <a:rPr lang="pt-BR" sz="2000" dirty="0" smtClean="0">
                <a:latin typeface="Aptos"/>
              </a:rPr>
              <a:t>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✓As organizações devem acompanhar continuamente o impacto tecnológico sobre o bem-estar e o desenvolvimento das equipes</a:t>
            </a:r>
            <a:r>
              <a:rPr lang="pt-BR" sz="2000" dirty="0" smtClean="0">
                <a:latin typeface="Aptos"/>
              </a:rPr>
              <a:t>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 smtClean="0">
                <a:latin typeface="Aptos"/>
              </a:rPr>
              <a:t>✓</a:t>
            </a:r>
            <a:r>
              <a:rPr lang="pt-BR" sz="2000" dirty="0">
                <a:latin typeface="Aptos"/>
              </a:rPr>
              <a:t>Reforça-se a necessidade de pesquisas direcionadas aos efeitos de longo prazo e à realidade do mercado brasileiro.</a:t>
            </a:r>
          </a:p>
          <a:p>
            <a:r>
              <a:rPr lang="pt-BR" sz="2000" dirty="0"/>
              <a:t/>
            </a:r>
            <a:br>
              <a:rPr lang="pt-BR" sz="2000" dirty="0"/>
            </a:br>
            <a:endParaRPr sz="1900" dirty="0">
              <a:solidFill>
                <a:srgbClr val="1433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REFERÊNCIAS BIBLIOGRÁFICAS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86484"/>
            <a:ext cx="8686800" cy="4297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 dirty="0">
                <a:solidFill>
                  <a:srgbClr val="14334E"/>
                </a:solidFill>
                <a:latin typeface="Aptos"/>
              </a:rPr>
              <a:t>HUI, X.; RESHEF, O.; ZHOU, L. The short-term effects of generative artificial intelligence on employment: evidence from an online labor market. Organization Science, v. 35, p. 1977–1989, 2024.</a:t>
            </a:r>
          </a:p>
          <a:p>
            <a:pPr algn="l">
              <a:spcAft>
                <a:spcPts val="500"/>
              </a:spcAft>
            </a:pPr>
            <a:endParaRPr sz="1200" b="0" i="0" dirty="0">
              <a:solidFill>
                <a:srgbClr val="14334E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200" b="0" i="0" dirty="0">
                <a:solidFill>
                  <a:srgbClr val="14334E"/>
                </a:solidFill>
                <a:latin typeface="Aptos"/>
              </a:rPr>
              <a:t>ALDASORO, I. et al. The rise of generative AI: modelling exposure, substitution and inequality effects on the US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labour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market. BIS Working Papers, n. 1207, 2024.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Disponível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em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: https://www.bis.org/publ/work1207.htm.</a:t>
            </a:r>
          </a:p>
          <a:p>
            <a:pPr algn="l">
              <a:spcAft>
                <a:spcPts val="500"/>
              </a:spcAft>
            </a:pPr>
            <a:endParaRPr sz="1200" b="0" i="0" dirty="0">
              <a:solidFill>
                <a:srgbClr val="14334E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200" b="0" i="0" dirty="0">
                <a:solidFill>
                  <a:srgbClr val="14334E"/>
                </a:solidFill>
                <a:latin typeface="Aptos"/>
              </a:rPr>
              <a:t>SOULAMI, [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iniciais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informadas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]; BENCHERKOUN, [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iniciais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informadas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]; GALIULINA, [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iniciais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informadas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].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Revisão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sobre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IA,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bem-estar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e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saúde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mental dos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trabalhadores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, 2024. [Dados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bibliográficos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completos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constam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nos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arquivos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enviados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11201400" cy="5989320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463040" cy="137160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0" y="5303520"/>
            <a:ext cx="1691640" cy="100584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464040" y="4434840"/>
            <a:ext cx="2011680" cy="1325880"/>
          </a:xfrm>
          <a:prstGeom prst="rect">
            <a:avLst/>
          </a:prstGeom>
          <a:noFill/>
          <a:ln w="2032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685800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OBRIGADO!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6858000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E2EFF5"/>
                </a:solidFill>
                <a:latin typeface="Aptos"/>
              </a:rPr>
              <a:t>Inteligência artificial e trabalho:</a:t>
            </a:r>
          </a:p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E2EFF5"/>
                </a:solidFill>
                <a:latin typeface="Aptos"/>
              </a:rPr>
              <a:t>emprego, desigualdade e saúde mental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892040"/>
            <a:ext cx="77724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ENCIBRAC 2026 • Análise e Desenvolvimento de Sistemas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960120"/>
            <a:ext cx="19202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Braz Cubas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3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228600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92240" y="1005840"/>
            <a:ext cx="5212080" cy="484632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086600" y="1508760"/>
            <a:ext cx="4160520" cy="3794760"/>
          </a:xfrm>
          <a:prstGeom prst="rect">
            <a:avLst/>
          </a:prstGeom>
          <a:noFill/>
          <a:ln w="2540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38912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Braz Cubas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154680"/>
            <a:ext cx="41148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Centro Universitário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862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Henrique Gomes</dc:creator>
  <cp:keywords/>
  <dc:description>generated using python-pptx</dc:description>
  <cp:lastModifiedBy>Cliente</cp:lastModifiedBy>
  <cp:revision>4</cp:revision>
  <dcterms:created xsi:type="dcterms:W3CDTF">2013-01-27T09:14:16Z</dcterms:created>
  <dcterms:modified xsi:type="dcterms:W3CDTF">2026-10-20T12:03:33Z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2026-10-12T16:57:07Z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5a130c3c-94b5-4c20-95eb-f023461c4718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